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1A1850-AE4B-4CCD-B52B-0DB9912B060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Opening — ~1 minute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Start with the business problem, not the technology. Explain that the current process relies on email and Excel, creates manual ERP re-entry, delays feedback and can get stuck during absences.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Then state the goal: create one digital process from capture to credit note, while making the mobile application usable in unreliable network conditions.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Key sentence: “My goal is to make the process simple for the store, reliable for the business and maintainable for IT.”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A15844-4F5A-44A9-A137-6AE306C8C488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Explain the architecture — ~1.5 minutes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 application owns the user experience and offline capability. Server flows provide controlled integration and validation. Comarch remains the ERP system of record.”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Call out the two constraints from the case: only server flows can write into other systems, and workflow activities generally read business objects rather than perform writes.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Therefore: the BPMN workflow routes approvals and determines the business state; a supported integration mechanism such as an import interface or background job performs ERP writes.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Do not overclaim exact product capabilities. Say “appropriate supported integration mechanism” where the case does not specify the exact interface.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3C575A-2F79-4EC7-BD46-92560AAE6D2E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Mobile/offline — ~1.5 minutes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Offline is a business requirement here because reports are created in storage areas. I would therefore design the app as offline-first.”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Walk through the form: header plus repeatable line items, product picker/scanner, quantity, reason and optional photo.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Important principle: save locally first. The UI reads from local state and does not block on network availability.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 store should see business-friendly states such as Pending Sync, Submitted / With Regional Manager, Approved and Rejected.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Mention that product/order data may be cached for offline lookup, but final server-side validation is still required because ERP data can change while the device is offline. In the POC, a server-owned SKU catalogue simulates valuation: the server calculates and snapshots product, value, CHF currency and tax before routing; the store never types an approval total. In production, it derives and snapshots value, currency, tax, source order/delivery, and product data from Comarch; the workflow reads that immutable snapshot.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8A0221-1A07-41CA-B5CE-F5FB21D50185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Synchronization — ~1.5 minutes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Explain the failure scenario: server receives the report, but the mobile device loses the response. The app retries. Without idempotency, this could create duplicates.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Each report therefore gets a client-generated UUID and the server treats it as an idempotency key. Be precise: the UUID prevents duplicate report processing; credit-note creation should also have its own idempotent reference where the ERP interface supports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Photos are handled asynchronously and separately. I would compress them and retry them independently so a large image does not block the core business transaction.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Conflict handling can remain simple under the assumption that submitted reports are effectively append-only and belong to one store.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9663E-B3AA-4FC7-9ED3-A944BB043DEE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Validation — ~1 minute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This is one area I would add because the device may be offline for hours. Client-side validation is useful for UX, but it cannot be the final validation because ERP master data can change.”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Give an example: the store captures a product while offline; later the product is discontinued or the related delivery is corrected. The server should validate against current ERP data before entering approval.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This prevents invalid business transactions from entering the workflow and makes downstream processing more reliable.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91B127-3173-461C-A38A-2F11288EEECD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Approval workflow — ~2 minutes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Walk left to right. State that the CHF 200 and CHF 1,000 thresholds come from the case. The assumption is that below CHF 200 there is no approval; explicitly say this should be confirmed.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For CHF 200 and above, the regional manager approves. From CHF 1,000, quality management is added.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Use roles rather than hard-coded people. This is important because the case explicitly tells us that Comarch handles absences and deputies.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For escalation, use a three-working-day timer. The exact escalation recipient is an open business question, so say “according to the agreed escalation hierarchy” rather than inventing a specific person.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Rejection at either stage ends the process and sends the reason back to the store.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372EFA-E3C4-4A37-A1B5-FC221B43BCEC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ERP integration — ~1.5 minutes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This is where I would explicitly demonstrate that I read the Comarch constraint.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 workflow should not directly perform the ERP write. It determines the approval state. Once approved, a server-side integration mechanism or background job creates the credit note through the supported ERP interface.”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Explain that this also isolates ERP availability problems. If Comarch is unavailable, the transaction remains CREDIT_NOTE_PENDING and can be retried.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Mention idempotent ERP processing: ideally use the damage report UUID as an external reference or equivalent mechanism so that a retry cannot create two credit notes.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0E3EF4-FB2C-49BA-87D2-2D7A917185DC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Error handling and operations — ~1.5 minutes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Separate errors into user/validation, business and technical.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User validation should be caught immediately. Business errors need a meaningful status and reason. Technical failures should use controlled retries and then move to a monitoring/manual intervention queue.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Explain the operational visibility: correlation ID, structured logs, retry limits, alerts and audit trail.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Connect this directly to the original problem: the current process gets stuck during absences. The new process should make stuck transactions visible to IT and business users rather than relying on someone noticing a missing email.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ED65BC-839D-45E9-92EC-A2ABD9B5ED7B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Status model — ~1 minute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Explain that the store should see a simple business state, while the backend may have more technical states.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For example, “Credit Note Processing” is useful to the store. They do not need to know whether an import job is currently retrying.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Rejected reports show the reason. Synchronization and ERP errors remain visible and recoverable.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37402D-9067-42BB-8E62-7217B31735D8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Close — ~1 minute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Finish by showing that you understand what is known and what still needs clarification.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Mention the strongest assumptions: internal stores, append-only reports, and the interpretation of the CHF 200 threshold. Mention the chocolate-specific assumption only as something to confirm, not as a fact from the case.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Then summarize the architecture in one sentence: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The solution is an offline-first Engomo application, validated server-side, synchronized idempotently into Comarch, approved through role-based BPMN workflow, and finalized through a supported ERP write mechanism.”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End with: “This gives the store a simple experience while giving the business traceability, reliable approvals and a controlled ERP process.”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F467A3-8950-42E8-A92F-13E3EB2C2B01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8F9C01-18F4-41E9-8E72-C0DA9F2819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C831DC-CBA0-482B-BCEA-70E88FC36F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2121F4-4127-4041-B0CF-0F62E5F6AC4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54A3AE-CD7D-4B88-843C-3A39CD037AA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5F7A39-6C66-4339-8452-4DA5F331EB6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CEBD7D-DF0B-4DBB-A38B-7E02984DD2D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0E30D9-2AAA-4CDA-A921-3F4040F1706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84CE91-76EF-4D8A-9433-9E8B7AACC87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9F31F8-8631-4E37-8FC8-EE29B4CB3D6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D1FE77-3008-480E-93EC-C2553717A9C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BAF45C-8FA9-4A88-889E-D06B120CFA0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CC16AE-6423-40BF-B690-62FA556F11B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F40042-D947-4959-9615-F845975C174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36;p1"/>
          <p:cNvSpPr/>
          <p:nvPr/>
        </p:nvSpPr>
        <p:spPr>
          <a:xfrm>
            <a:off x="640080" y="914400"/>
            <a:ext cx="1078920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82639"/>
                </a:solidFill>
                <a:latin typeface="Arial"/>
                <a:ea typeface="Arial"/>
              </a:rPr>
              <a:t>Digital Damage Reporting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37;p1"/>
          <p:cNvSpPr/>
          <p:nvPr/>
        </p:nvSpPr>
        <p:spPr>
          <a:xfrm>
            <a:off x="658440" y="1691640"/>
            <a:ext cx="105148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646e78"/>
                </a:solidFill>
                <a:latin typeface="Arial"/>
                <a:ea typeface="Arial"/>
              </a:rPr>
              <a:t>End-to-end solution for stores, approvals and Comarch ERP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Google Shape;138;p1"/>
          <p:cNvSpPr/>
          <p:nvPr/>
        </p:nvSpPr>
        <p:spPr>
          <a:xfrm>
            <a:off x="685800" y="27889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139;p1"/>
          <p:cNvSpPr/>
          <p:nvPr/>
        </p:nvSpPr>
        <p:spPr>
          <a:xfrm>
            <a:off x="850320" y="291708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STORE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140;p1"/>
          <p:cNvSpPr/>
          <p:nvPr/>
        </p:nvSpPr>
        <p:spPr>
          <a:xfrm>
            <a:off x="850320" y="331920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Capture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" name="Google Shape;141;p1"/>
          <p:cNvCxnSpPr/>
          <p:nvPr/>
        </p:nvCxnSpPr>
        <p:spPr>
          <a:xfrm>
            <a:off x="2926080" y="34563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56" name="Google Shape;142;p1"/>
          <p:cNvSpPr/>
          <p:nvPr/>
        </p:nvSpPr>
        <p:spPr>
          <a:xfrm>
            <a:off x="3337560" y="27889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143;p1"/>
          <p:cNvSpPr/>
          <p:nvPr/>
        </p:nvSpPr>
        <p:spPr>
          <a:xfrm>
            <a:off x="3502080" y="291708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SYNC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144;p1"/>
          <p:cNvSpPr/>
          <p:nvPr/>
        </p:nvSpPr>
        <p:spPr>
          <a:xfrm>
            <a:off x="3502080" y="331920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Offline → Online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" name="Google Shape;145;p1"/>
          <p:cNvCxnSpPr/>
          <p:nvPr/>
        </p:nvCxnSpPr>
        <p:spPr>
          <a:xfrm>
            <a:off x="5577840" y="34563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60" name="Google Shape;146;p1"/>
          <p:cNvSpPr/>
          <p:nvPr/>
        </p:nvSpPr>
        <p:spPr>
          <a:xfrm>
            <a:off x="5989320" y="27889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47;p1"/>
          <p:cNvSpPr/>
          <p:nvPr/>
        </p:nvSpPr>
        <p:spPr>
          <a:xfrm>
            <a:off x="6153840" y="291708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APPROVAL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48;p1"/>
          <p:cNvSpPr/>
          <p:nvPr/>
        </p:nvSpPr>
        <p:spPr>
          <a:xfrm>
            <a:off x="6153840" y="331920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Role-based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" name="Google Shape;149;p1"/>
          <p:cNvCxnSpPr/>
          <p:nvPr/>
        </p:nvCxnSpPr>
        <p:spPr>
          <a:xfrm>
            <a:off x="8229600" y="34563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64" name="Google Shape;150;p1"/>
          <p:cNvSpPr/>
          <p:nvPr/>
        </p:nvSpPr>
        <p:spPr>
          <a:xfrm>
            <a:off x="8641080" y="27889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151;p1"/>
          <p:cNvSpPr/>
          <p:nvPr/>
        </p:nvSpPr>
        <p:spPr>
          <a:xfrm>
            <a:off x="8805600" y="291708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ERP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52;p1"/>
          <p:cNvSpPr/>
          <p:nvPr/>
        </p:nvSpPr>
        <p:spPr>
          <a:xfrm>
            <a:off x="8805600" y="331920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Credit note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53;p1"/>
          <p:cNvSpPr/>
          <p:nvPr/>
        </p:nvSpPr>
        <p:spPr>
          <a:xfrm>
            <a:off x="1828800" y="4892040"/>
            <a:ext cx="850320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154;p1"/>
          <p:cNvSpPr/>
          <p:nvPr/>
        </p:nvSpPr>
        <p:spPr>
          <a:xfrm>
            <a:off x="1828800" y="4936320"/>
            <a:ext cx="85032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Goal: simple for stores • reliable for the business • maintainable for 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55;p1"/>
          <p:cNvSpPr/>
          <p:nvPr/>
        </p:nvSpPr>
        <p:spPr>
          <a:xfrm>
            <a:off x="685800" y="5806440"/>
            <a:ext cx="36568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46e78"/>
                </a:solidFill>
                <a:latin typeface="Arial"/>
                <a:ea typeface="Arial"/>
              </a:rPr>
              <a:t>15-minute case study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56;p1"/>
          <p:cNvSpPr/>
          <p:nvPr/>
        </p:nvSpPr>
        <p:spPr>
          <a:xfrm>
            <a:off x="502920" y="6510600"/>
            <a:ext cx="10670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57;p1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63;p2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1. End-to-End System Design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64;p2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Three responsibilities: mobile capture, orchestration/integration, ERP system of record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65;p2"/>
          <p:cNvSpPr/>
          <p:nvPr/>
        </p:nvSpPr>
        <p:spPr>
          <a:xfrm>
            <a:off x="594360" y="1417320"/>
            <a:ext cx="2833920" cy="324540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166;p2"/>
          <p:cNvSpPr/>
          <p:nvPr/>
        </p:nvSpPr>
        <p:spPr>
          <a:xfrm>
            <a:off x="758880" y="1545480"/>
            <a:ext cx="2504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ENGOMO APP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67;p2"/>
          <p:cNvSpPr/>
          <p:nvPr/>
        </p:nvSpPr>
        <p:spPr>
          <a:xfrm>
            <a:off x="758880" y="1947600"/>
            <a:ext cx="250488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UI and barcode/scanner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Local-first data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Offline capture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Device-side validation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Sync queue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168;p2"/>
          <p:cNvSpPr/>
          <p:nvPr/>
        </p:nvSpPr>
        <p:spPr>
          <a:xfrm>
            <a:off x="4663440" y="1417320"/>
            <a:ext cx="2833920" cy="324540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69;p2"/>
          <p:cNvSpPr/>
          <p:nvPr/>
        </p:nvSpPr>
        <p:spPr>
          <a:xfrm>
            <a:off x="4827960" y="1545480"/>
            <a:ext cx="25048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ENGOMO SERVER FLOWS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70;p2"/>
          <p:cNvSpPr/>
          <p:nvPr/>
        </p:nvSpPr>
        <p:spPr>
          <a:xfrm>
            <a:off x="4827960" y="1947600"/>
            <a:ext cx="250488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Server-side validation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Authentication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Idempotency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ERP integration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Retry / error handling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71;p2"/>
          <p:cNvSpPr/>
          <p:nvPr/>
        </p:nvSpPr>
        <p:spPr>
          <a:xfrm>
            <a:off x="8732520" y="1417320"/>
            <a:ext cx="2833920" cy="324540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72;p2"/>
          <p:cNvSpPr/>
          <p:nvPr/>
        </p:nvSpPr>
        <p:spPr>
          <a:xfrm>
            <a:off x="8897040" y="1545480"/>
            <a:ext cx="2504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COMARCH ERP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73;p2"/>
          <p:cNvSpPr/>
          <p:nvPr/>
        </p:nvSpPr>
        <p:spPr>
          <a:xfrm>
            <a:off x="8897040" y="1947600"/>
            <a:ext cx="250488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Master data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Orders / stock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Damage report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BPMN approval workflow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Credit note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3" name="Google Shape;174;p2"/>
          <p:cNvCxnSpPr/>
          <p:nvPr/>
        </p:nvCxnSpPr>
        <p:spPr>
          <a:xfrm>
            <a:off x="3429000" y="3017520"/>
            <a:ext cx="1189440" cy="720"/>
          </a:xfrm>
          <a:prstGeom prst="straightConnector1">
            <a:avLst/>
          </a:prstGeom>
          <a:ln w="31680">
            <a:solidFill>
              <a:srgbClr val="2d5f91"/>
            </a:solidFill>
            <a:round/>
          </a:ln>
        </p:spPr>
      </p:cxnSp>
      <p:cxnSp>
        <p:nvCxnSpPr>
          <p:cNvPr id="84" name="Google Shape;175;p2"/>
          <p:cNvCxnSpPr/>
          <p:nvPr/>
        </p:nvCxnSpPr>
        <p:spPr>
          <a:xfrm>
            <a:off x="7497720" y="3017520"/>
            <a:ext cx="1189800" cy="720"/>
          </a:xfrm>
          <a:prstGeom prst="straightConnector1">
            <a:avLst/>
          </a:prstGeom>
          <a:ln w="31680">
            <a:solidFill>
              <a:srgbClr val="2d5f91"/>
            </a:solidFill>
            <a:round/>
          </a:ln>
        </p:spPr>
      </p:cxnSp>
      <p:sp>
        <p:nvSpPr>
          <p:cNvPr id="85" name="Google Shape;176;p2"/>
          <p:cNvSpPr/>
          <p:nvPr/>
        </p:nvSpPr>
        <p:spPr>
          <a:xfrm>
            <a:off x="3977640" y="5074920"/>
            <a:ext cx="429696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77;p2"/>
          <p:cNvSpPr/>
          <p:nvPr/>
        </p:nvSpPr>
        <p:spPr>
          <a:xfrm>
            <a:off x="3977640" y="5119200"/>
            <a:ext cx="42969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Comarch snapshot → workflow decides → integration writes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78;p2"/>
          <p:cNvSpPr/>
          <p:nvPr/>
        </p:nvSpPr>
        <p:spPr>
          <a:xfrm>
            <a:off x="502920" y="6510600"/>
            <a:ext cx="110635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79;p2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85;p3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2. Mobile App &amp; Offline-First Data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86;p3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The store can complete the report without connectivity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87;p3"/>
          <p:cNvSpPr/>
          <p:nvPr/>
        </p:nvSpPr>
        <p:spPr>
          <a:xfrm>
            <a:off x="480240" y="1210680"/>
            <a:ext cx="3656880" cy="537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88;p3"/>
          <p:cNvSpPr/>
          <p:nvPr/>
        </p:nvSpPr>
        <p:spPr>
          <a:xfrm>
            <a:off x="667440" y="1454040"/>
            <a:ext cx="3327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CAPTURE FORM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89;p3"/>
          <p:cNvSpPr/>
          <p:nvPr/>
        </p:nvSpPr>
        <p:spPr>
          <a:xfrm>
            <a:off x="667440" y="1856160"/>
            <a:ext cx="3327840" cy="26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Header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 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Store • Date • Reporter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Line items (repeatable)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 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Product / barcode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 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Quantity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 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Reason code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 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Optional photo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Actions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 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Save • Submit • View status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90;p3"/>
          <p:cNvSpPr/>
          <p:nvPr/>
        </p:nvSpPr>
        <p:spPr>
          <a:xfrm>
            <a:off x="4526280" y="1325880"/>
            <a:ext cx="2971080" cy="100512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91;p3"/>
          <p:cNvSpPr/>
          <p:nvPr/>
        </p:nvSpPr>
        <p:spPr>
          <a:xfrm>
            <a:off x="4690800" y="1454040"/>
            <a:ext cx="264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SAVE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92;p3"/>
          <p:cNvSpPr/>
          <p:nvPr/>
        </p:nvSpPr>
        <p:spPr>
          <a:xfrm>
            <a:off x="4690800" y="1856160"/>
            <a:ext cx="264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Write locally first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93;p3"/>
          <p:cNvSpPr/>
          <p:nvPr/>
        </p:nvSpPr>
        <p:spPr>
          <a:xfrm>
            <a:off x="4526280" y="2697480"/>
            <a:ext cx="2971080" cy="100512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94;p3"/>
          <p:cNvSpPr/>
          <p:nvPr/>
        </p:nvSpPr>
        <p:spPr>
          <a:xfrm>
            <a:off x="4690800" y="2825640"/>
            <a:ext cx="264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PENDING_SYNC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95;p3"/>
          <p:cNvSpPr/>
          <p:nvPr/>
        </p:nvSpPr>
        <p:spPr>
          <a:xfrm>
            <a:off x="4690800" y="3227760"/>
            <a:ext cx="264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Queue until connectivity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96;p3"/>
          <p:cNvSpPr/>
          <p:nvPr/>
        </p:nvSpPr>
        <p:spPr>
          <a:xfrm>
            <a:off x="4526280" y="4069080"/>
            <a:ext cx="2971080" cy="100512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97;p3"/>
          <p:cNvSpPr/>
          <p:nvPr/>
        </p:nvSpPr>
        <p:spPr>
          <a:xfrm>
            <a:off x="4690800" y="4197240"/>
            <a:ext cx="264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SYNCED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98;p3"/>
          <p:cNvSpPr/>
          <p:nvPr/>
        </p:nvSpPr>
        <p:spPr>
          <a:xfrm>
            <a:off x="4690800" y="4599360"/>
            <a:ext cx="2642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Server accepted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" name="Google Shape;199;p3"/>
          <p:cNvCxnSpPr/>
          <p:nvPr/>
        </p:nvCxnSpPr>
        <p:spPr>
          <a:xfrm>
            <a:off x="6016680" y="2331720"/>
            <a:ext cx="720" cy="32076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cxnSp>
        <p:nvCxnSpPr>
          <p:cNvPr id="104" name="Google Shape;200;p3"/>
          <p:cNvCxnSpPr/>
          <p:nvPr/>
        </p:nvCxnSpPr>
        <p:spPr>
          <a:xfrm>
            <a:off x="6016680" y="3703320"/>
            <a:ext cx="720" cy="32076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05" name="Google Shape;201;p3"/>
          <p:cNvSpPr/>
          <p:nvPr/>
        </p:nvSpPr>
        <p:spPr>
          <a:xfrm>
            <a:off x="7886520" y="1174680"/>
            <a:ext cx="3748320" cy="537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202;p3"/>
          <p:cNvSpPr/>
          <p:nvPr/>
        </p:nvSpPr>
        <p:spPr>
          <a:xfrm>
            <a:off x="8074080" y="1627560"/>
            <a:ext cx="33735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My Reports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PENDING SYNC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Waiting for connection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SUBMITTED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Report received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PENDING REGIONAL APPROVAL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With Regional Manager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PENDING QUALITY APPROVAL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With Quality Management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APPROVED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Credit note 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COMPLETED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Credit note created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REJECTED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Reason shown to store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203;p3"/>
          <p:cNvSpPr/>
          <p:nvPr/>
        </p:nvSpPr>
        <p:spPr>
          <a:xfrm>
            <a:off x="8028360" y="1325880"/>
            <a:ext cx="3373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STORE EXPERIENCE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204;p3"/>
          <p:cNvSpPr/>
          <p:nvPr/>
        </p:nvSpPr>
        <p:spPr>
          <a:xfrm>
            <a:off x="496080" y="6491520"/>
            <a:ext cx="111996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205;p3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211;p4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3. Synchronisation, Photos &amp; Idempotency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212;p4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Reliable delivery despite intermittent connectivity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213;p4"/>
          <p:cNvSpPr/>
          <p:nvPr/>
        </p:nvSpPr>
        <p:spPr>
          <a:xfrm>
            <a:off x="502920" y="1417320"/>
            <a:ext cx="2148120" cy="114228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214;p4"/>
          <p:cNvSpPr/>
          <p:nvPr/>
        </p:nvSpPr>
        <p:spPr>
          <a:xfrm>
            <a:off x="66744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LOCAL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215;p4"/>
          <p:cNvSpPr/>
          <p:nvPr/>
        </p:nvSpPr>
        <p:spPr>
          <a:xfrm>
            <a:off x="667440" y="1947600"/>
            <a:ext cx="1819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UUID + report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5" name="Google Shape;216;p4"/>
          <p:cNvCxnSpPr/>
          <p:nvPr/>
        </p:nvCxnSpPr>
        <p:spPr>
          <a:xfrm>
            <a:off x="2651760" y="1993320"/>
            <a:ext cx="45792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16" name="Google Shape;217;p4"/>
          <p:cNvSpPr/>
          <p:nvPr/>
        </p:nvSpPr>
        <p:spPr>
          <a:xfrm>
            <a:off x="3154680" y="1417320"/>
            <a:ext cx="2148120" cy="114228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218;p4"/>
          <p:cNvSpPr/>
          <p:nvPr/>
        </p:nvSpPr>
        <p:spPr>
          <a:xfrm>
            <a:off x="331920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QUEUE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219;p4"/>
          <p:cNvSpPr/>
          <p:nvPr/>
        </p:nvSpPr>
        <p:spPr>
          <a:xfrm>
            <a:off x="3319200" y="1947600"/>
            <a:ext cx="1819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Pending sync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9" name="Google Shape;220;p4"/>
          <p:cNvCxnSpPr/>
          <p:nvPr/>
        </p:nvCxnSpPr>
        <p:spPr>
          <a:xfrm>
            <a:off x="5303520" y="1993320"/>
            <a:ext cx="45792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20" name="Google Shape;221;p4"/>
          <p:cNvSpPr/>
          <p:nvPr/>
        </p:nvSpPr>
        <p:spPr>
          <a:xfrm>
            <a:off x="5806440" y="1417320"/>
            <a:ext cx="2148120" cy="114228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222;p4"/>
          <p:cNvSpPr/>
          <p:nvPr/>
        </p:nvSpPr>
        <p:spPr>
          <a:xfrm>
            <a:off x="597096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SERVER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223;p4"/>
          <p:cNvSpPr/>
          <p:nvPr/>
        </p:nvSpPr>
        <p:spPr>
          <a:xfrm>
            <a:off x="5970960" y="1947600"/>
            <a:ext cx="1819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Validate + accept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" name="Google Shape;224;p4"/>
          <p:cNvCxnSpPr/>
          <p:nvPr/>
        </p:nvCxnSpPr>
        <p:spPr>
          <a:xfrm>
            <a:off x="7954920" y="1993320"/>
            <a:ext cx="4582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24" name="Google Shape;225;p4"/>
          <p:cNvSpPr/>
          <p:nvPr/>
        </p:nvSpPr>
        <p:spPr>
          <a:xfrm>
            <a:off x="8458200" y="1417320"/>
            <a:ext cx="2148120" cy="114228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226;p4"/>
          <p:cNvSpPr/>
          <p:nvPr/>
        </p:nvSpPr>
        <p:spPr>
          <a:xfrm>
            <a:off x="862272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ERP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227;p4"/>
          <p:cNvSpPr/>
          <p:nvPr/>
        </p:nvSpPr>
        <p:spPr>
          <a:xfrm>
            <a:off x="8622720" y="1947600"/>
            <a:ext cx="1819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Business 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228;p4"/>
          <p:cNvSpPr/>
          <p:nvPr/>
        </p:nvSpPr>
        <p:spPr>
          <a:xfrm>
            <a:off x="685800" y="3063240"/>
            <a:ext cx="5302800" cy="238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229;p4"/>
          <p:cNvSpPr/>
          <p:nvPr/>
        </p:nvSpPr>
        <p:spPr>
          <a:xfrm>
            <a:off x="850320" y="3191400"/>
            <a:ext cx="4973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IDEMPOTENCY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230;p4"/>
          <p:cNvSpPr/>
          <p:nvPr/>
        </p:nvSpPr>
        <p:spPr>
          <a:xfrm>
            <a:off x="850320" y="3593520"/>
            <a:ext cx="497376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Client-generated UUID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Retry after timeout → same UUID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→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server recognizes existing transaction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→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no duplicate damage report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Use the same report reference for credit-note idempotency where supported.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231;p4"/>
          <p:cNvSpPr/>
          <p:nvPr/>
        </p:nvSpPr>
        <p:spPr>
          <a:xfrm>
            <a:off x="6217920" y="3063240"/>
            <a:ext cx="5302800" cy="238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232;p4"/>
          <p:cNvSpPr/>
          <p:nvPr/>
        </p:nvSpPr>
        <p:spPr>
          <a:xfrm>
            <a:off x="6382440" y="3191400"/>
            <a:ext cx="4973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PHOTO HANDLING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233;p4"/>
          <p:cNvSpPr/>
          <p:nvPr/>
        </p:nvSpPr>
        <p:spPr>
          <a:xfrm>
            <a:off x="6382440" y="3593520"/>
            <a:ext cx="4973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Upload photo separately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Compress before upload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Retry independently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Do not block core report synchronization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Keep a photo reference on the line item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234;p4"/>
          <p:cNvSpPr/>
          <p:nvPr/>
        </p:nvSpPr>
        <p:spPr>
          <a:xfrm>
            <a:off x="3657600" y="5623560"/>
            <a:ext cx="479988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235;p4"/>
          <p:cNvSpPr/>
          <p:nvPr/>
        </p:nvSpPr>
        <p:spPr>
          <a:xfrm>
            <a:off x="3657600" y="5667840"/>
            <a:ext cx="47998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Append-only reports → low conflict risk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236;p4"/>
          <p:cNvSpPr/>
          <p:nvPr/>
        </p:nvSpPr>
        <p:spPr>
          <a:xfrm>
            <a:off x="502920" y="6510600"/>
            <a:ext cx="110671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237;p4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243;p5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4. Server-Side Validation Before Approval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244;p5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Offline capture is trusted for usability — not as the final source of truth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245;p5"/>
          <p:cNvSpPr/>
          <p:nvPr/>
        </p:nvSpPr>
        <p:spPr>
          <a:xfrm>
            <a:off x="594360" y="1417320"/>
            <a:ext cx="2148120" cy="105084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246;p5"/>
          <p:cNvSpPr/>
          <p:nvPr/>
        </p:nvSpPr>
        <p:spPr>
          <a:xfrm>
            <a:off x="75888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1. CAPTURE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247;p5"/>
          <p:cNvSpPr/>
          <p:nvPr/>
        </p:nvSpPr>
        <p:spPr>
          <a:xfrm>
            <a:off x="758880" y="1947600"/>
            <a:ext cx="1819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Store creates report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248;p5"/>
          <p:cNvSpPr/>
          <p:nvPr/>
        </p:nvSpPr>
        <p:spPr>
          <a:xfrm>
            <a:off x="3154680" y="1417320"/>
            <a:ext cx="2148120" cy="105084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249;p5"/>
          <p:cNvSpPr/>
          <p:nvPr/>
        </p:nvSpPr>
        <p:spPr>
          <a:xfrm>
            <a:off x="331920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2. SYNC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250;p5"/>
          <p:cNvSpPr/>
          <p:nvPr/>
        </p:nvSpPr>
        <p:spPr>
          <a:xfrm>
            <a:off x="3319200" y="1947600"/>
            <a:ext cx="1819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Server receives UUID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251;p5"/>
          <p:cNvSpPr/>
          <p:nvPr/>
        </p:nvSpPr>
        <p:spPr>
          <a:xfrm>
            <a:off x="5715000" y="1417320"/>
            <a:ext cx="2148120" cy="105084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252;p5"/>
          <p:cNvSpPr/>
          <p:nvPr/>
        </p:nvSpPr>
        <p:spPr>
          <a:xfrm>
            <a:off x="5879520" y="1545480"/>
            <a:ext cx="181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3. VALIDATE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53;p5"/>
          <p:cNvSpPr/>
          <p:nvPr/>
        </p:nvSpPr>
        <p:spPr>
          <a:xfrm>
            <a:off x="5879520" y="1947600"/>
            <a:ext cx="1819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Check current ERP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54;p5"/>
          <p:cNvSpPr/>
          <p:nvPr/>
        </p:nvSpPr>
        <p:spPr>
          <a:xfrm>
            <a:off x="8275320" y="1417320"/>
            <a:ext cx="2742480" cy="105084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255;p5"/>
          <p:cNvSpPr/>
          <p:nvPr/>
        </p:nvSpPr>
        <p:spPr>
          <a:xfrm>
            <a:off x="8439840" y="1545480"/>
            <a:ext cx="2413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4. APPROVAL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56;p5"/>
          <p:cNvSpPr/>
          <p:nvPr/>
        </p:nvSpPr>
        <p:spPr>
          <a:xfrm>
            <a:off x="8439840" y="1947600"/>
            <a:ext cx="2413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Only valid reports enter workflow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1" name="Google Shape;257;p5"/>
          <p:cNvCxnSpPr/>
          <p:nvPr/>
        </p:nvCxnSpPr>
        <p:spPr>
          <a:xfrm>
            <a:off x="2743200" y="193824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cxnSp>
        <p:nvCxnSpPr>
          <p:cNvPr id="152" name="Google Shape;258;p5"/>
          <p:cNvCxnSpPr/>
          <p:nvPr/>
        </p:nvCxnSpPr>
        <p:spPr>
          <a:xfrm>
            <a:off x="5303520" y="193824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cxnSp>
        <p:nvCxnSpPr>
          <p:cNvPr id="153" name="Google Shape;259;p5"/>
          <p:cNvCxnSpPr/>
          <p:nvPr/>
        </p:nvCxnSpPr>
        <p:spPr>
          <a:xfrm>
            <a:off x="7863840" y="193824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54" name="Google Shape;260;p5"/>
          <p:cNvSpPr/>
          <p:nvPr/>
        </p:nvSpPr>
        <p:spPr>
          <a:xfrm>
            <a:off x="914400" y="3017520"/>
            <a:ext cx="10286280" cy="214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261;p5"/>
          <p:cNvSpPr/>
          <p:nvPr/>
        </p:nvSpPr>
        <p:spPr>
          <a:xfrm>
            <a:off x="1078920" y="3145680"/>
            <a:ext cx="9957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SERVER-SIDE CHECKS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62;p5"/>
          <p:cNvSpPr/>
          <p:nvPr/>
        </p:nvSpPr>
        <p:spPr>
          <a:xfrm>
            <a:off x="1078920" y="3547800"/>
            <a:ext cx="9957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Store and product exist and are active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Order / delivery reference is valid, if required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Quantity and reason code are valid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Current ERP value can be calculated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Business rules / thresholds can be evaluated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Offline data has not become inconsistent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263;p5"/>
          <p:cNvSpPr/>
          <p:nvPr/>
        </p:nvSpPr>
        <p:spPr>
          <a:xfrm>
            <a:off x="2057400" y="5623560"/>
            <a:ext cx="804600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64;p5"/>
          <p:cNvSpPr/>
          <p:nvPr/>
        </p:nvSpPr>
        <p:spPr>
          <a:xfrm>
            <a:off x="2057400" y="5667840"/>
            <a:ext cx="80460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Principle: client validation improves UX; server validation protects business integrity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265;p5"/>
          <p:cNvSpPr/>
          <p:nvPr/>
        </p:nvSpPr>
        <p:spPr>
          <a:xfrm>
            <a:off x="502920" y="6510600"/>
            <a:ext cx="108126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66;p5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272;p6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5. Approval Workflow &amp; Escalation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73;p6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Role-based BPMN workflow with business thresholds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74;p6"/>
          <p:cNvSpPr/>
          <p:nvPr/>
        </p:nvSpPr>
        <p:spPr>
          <a:xfrm>
            <a:off x="411480" y="1417320"/>
            <a:ext cx="1645200" cy="91368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75;p6"/>
          <p:cNvSpPr/>
          <p:nvPr/>
        </p:nvSpPr>
        <p:spPr>
          <a:xfrm>
            <a:off x="576000" y="1545480"/>
            <a:ext cx="1316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REPORT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76;p6"/>
          <p:cNvSpPr/>
          <p:nvPr/>
        </p:nvSpPr>
        <p:spPr>
          <a:xfrm>
            <a:off x="576000" y="1947600"/>
            <a:ext cx="13161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82639"/>
                </a:solidFill>
                <a:latin typeface="Arial"/>
                <a:ea typeface="Arial"/>
              </a:rPr>
              <a:t>Validated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6" name="Google Shape;277;p6"/>
          <p:cNvCxnSpPr/>
          <p:nvPr/>
        </p:nvCxnSpPr>
        <p:spPr>
          <a:xfrm>
            <a:off x="2057400" y="18741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67" name="Google Shape;278;p6"/>
          <p:cNvSpPr/>
          <p:nvPr/>
        </p:nvSpPr>
        <p:spPr>
          <a:xfrm>
            <a:off x="2423160" y="1417320"/>
            <a:ext cx="1873800" cy="91368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79;p6"/>
          <p:cNvSpPr/>
          <p:nvPr/>
        </p:nvSpPr>
        <p:spPr>
          <a:xfrm>
            <a:off x="2587680" y="1545480"/>
            <a:ext cx="154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&lt; CHF 200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80;p6"/>
          <p:cNvSpPr/>
          <p:nvPr/>
        </p:nvSpPr>
        <p:spPr>
          <a:xfrm>
            <a:off x="2587680" y="1947600"/>
            <a:ext cx="15447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82639"/>
                </a:solidFill>
                <a:latin typeface="Arial"/>
                <a:ea typeface="Arial"/>
              </a:rPr>
              <a:t>Auto-approved*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0" name="Google Shape;281;p6"/>
          <p:cNvCxnSpPr/>
          <p:nvPr/>
        </p:nvCxnSpPr>
        <p:spPr>
          <a:xfrm>
            <a:off x="4297680" y="18741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71" name="Google Shape;282;p6"/>
          <p:cNvSpPr/>
          <p:nvPr/>
        </p:nvSpPr>
        <p:spPr>
          <a:xfrm>
            <a:off x="4663440" y="1417320"/>
            <a:ext cx="1965240" cy="91368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83;p6"/>
          <p:cNvSpPr/>
          <p:nvPr/>
        </p:nvSpPr>
        <p:spPr>
          <a:xfrm>
            <a:off x="4827960" y="1545480"/>
            <a:ext cx="1636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≥ </a:t>
            </a: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CHF 200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84;p6"/>
          <p:cNvSpPr/>
          <p:nvPr/>
        </p:nvSpPr>
        <p:spPr>
          <a:xfrm>
            <a:off x="4827960" y="1947600"/>
            <a:ext cx="163620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82639"/>
                </a:solidFill>
                <a:latin typeface="Arial"/>
                <a:ea typeface="Arial"/>
              </a:rPr>
              <a:t>Regional Manager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4" name="Google Shape;285;p6"/>
          <p:cNvCxnSpPr/>
          <p:nvPr/>
        </p:nvCxnSpPr>
        <p:spPr>
          <a:xfrm>
            <a:off x="6629400" y="18741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75" name="Google Shape;286;p6"/>
          <p:cNvSpPr/>
          <p:nvPr/>
        </p:nvSpPr>
        <p:spPr>
          <a:xfrm>
            <a:off x="6995160" y="1417320"/>
            <a:ext cx="1690920" cy="91368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87;p6"/>
          <p:cNvSpPr/>
          <p:nvPr/>
        </p:nvSpPr>
        <p:spPr>
          <a:xfrm>
            <a:off x="7159680" y="1545480"/>
            <a:ext cx="136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≥ </a:t>
            </a: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CHF 1,000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88;p6"/>
          <p:cNvSpPr/>
          <p:nvPr/>
        </p:nvSpPr>
        <p:spPr>
          <a:xfrm>
            <a:off x="7159680" y="1947600"/>
            <a:ext cx="13618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82639"/>
                </a:solidFill>
                <a:latin typeface="Arial"/>
                <a:ea typeface="Arial"/>
              </a:rPr>
              <a:t>Add QM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8" name="Google Shape;289;p6"/>
          <p:cNvCxnSpPr/>
          <p:nvPr/>
        </p:nvCxnSpPr>
        <p:spPr>
          <a:xfrm>
            <a:off x="8686800" y="187416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179" name="Google Shape;290;p6"/>
          <p:cNvSpPr/>
          <p:nvPr/>
        </p:nvSpPr>
        <p:spPr>
          <a:xfrm>
            <a:off x="9052560" y="1417320"/>
            <a:ext cx="2331000" cy="91368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91;p6"/>
          <p:cNvSpPr/>
          <p:nvPr/>
        </p:nvSpPr>
        <p:spPr>
          <a:xfrm>
            <a:off x="9217080" y="1545480"/>
            <a:ext cx="2001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APPROVED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92;p6"/>
          <p:cNvSpPr/>
          <p:nvPr/>
        </p:nvSpPr>
        <p:spPr>
          <a:xfrm>
            <a:off x="9217080" y="1947600"/>
            <a:ext cx="2001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82639"/>
                </a:solidFill>
                <a:latin typeface="Arial"/>
                <a:ea typeface="Arial"/>
              </a:rPr>
              <a:t>Credit note process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93;p6"/>
          <p:cNvSpPr/>
          <p:nvPr/>
        </p:nvSpPr>
        <p:spPr>
          <a:xfrm>
            <a:off x="5989680" y="2875680"/>
            <a:ext cx="1919520" cy="776520"/>
          </a:xfrm>
          <a:prstGeom prst="roundRect">
            <a:avLst>
              <a:gd name="adj" fmla="val 16667"/>
            </a:avLst>
          </a:prstGeom>
          <a:solidFill>
            <a:srgbClr val="f8e2e2"/>
          </a:solidFill>
          <a:ln w="9360">
            <a:solidFill>
              <a:srgbClr val="f8e2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94;p6"/>
          <p:cNvSpPr/>
          <p:nvPr/>
        </p:nvSpPr>
        <p:spPr>
          <a:xfrm>
            <a:off x="5833440" y="2971800"/>
            <a:ext cx="15904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a4141"/>
                </a:solidFill>
                <a:latin typeface="Arial"/>
                <a:ea typeface="Arial"/>
              </a:rPr>
              <a:t>REJECTED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95;p6"/>
          <p:cNvSpPr/>
          <p:nvPr/>
        </p:nvSpPr>
        <p:spPr>
          <a:xfrm>
            <a:off x="5833440" y="3373920"/>
            <a:ext cx="1590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82639"/>
                </a:solidFill>
                <a:latin typeface="Arial"/>
                <a:ea typeface="Arial"/>
              </a:rPr>
              <a:t>Reason → store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296;p6"/>
          <p:cNvSpPr/>
          <p:nvPr/>
        </p:nvSpPr>
        <p:spPr>
          <a:xfrm>
            <a:off x="914400" y="4069080"/>
            <a:ext cx="4754160" cy="1473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297;p6"/>
          <p:cNvSpPr/>
          <p:nvPr/>
        </p:nvSpPr>
        <p:spPr>
          <a:xfrm>
            <a:off x="1078920" y="4197240"/>
            <a:ext cx="4425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3 WORKING DAY TIMER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298;p6"/>
          <p:cNvSpPr/>
          <p:nvPr/>
        </p:nvSpPr>
        <p:spPr>
          <a:xfrm>
            <a:off x="1078920" y="4599360"/>
            <a:ext cx="442512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User task has a deadline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No response → escalate according to agreed hierarchy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99;p6"/>
          <p:cNvSpPr/>
          <p:nvPr/>
        </p:nvSpPr>
        <p:spPr>
          <a:xfrm>
            <a:off x="6126480" y="4069080"/>
            <a:ext cx="4754160" cy="1473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300;p6"/>
          <p:cNvSpPr/>
          <p:nvPr/>
        </p:nvSpPr>
        <p:spPr>
          <a:xfrm>
            <a:off x="6291000" y="4197240"/>
            <a:ext cx="4425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ABSENCES / DEPUTIES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301;p6"/>
          <p:cNvSpPr/>
          <p:nvPr/>
        </p:nvSpPr>
        <p:spPr>
          <a:xfrm>
            <a:off x="6291000" y="4599360"/>
            <a:ext cx="4425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Assign to roles, not hard-coded people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Use Comarch's native absence/deputy handling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302;p6"/>
          <p:cNvSpPr/>
          <p:nvPr/>
        </p:nvSpPr>
        <p:spPr>
          <a:xfrm>
            <a:off x="640080" y="5715000"/>
            <a:ext cx="10514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6e78"/>
                </a:solidFill>
                <a:latin typeface="Arial"/>
                <a:ea typeface="Arial"/>
              </a:rPr>
              <a:t>*Assumption to confirm: whether reports below CHF 200 require no approval.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303;p6"/>
          <p:cNvSpPr/>
          <p:nvPr/>
        </p:nvSpPr>
        <p:spPr>
          <a:xfrm>
            <a:off x="502920" y="6510600"/>
            <a:ext cx="10999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304;p6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4" name="Google Shape;305;p6"/>
          <p:cNvCxnSpPr>
            <a:stCxn id="171" idx="2"/>
          </p:cNvCxnSpPr>
          <p:nvPr/>
        </p:nvCxnSpPr>
        <p:spPr>
          <a:xfrm>
            <a:off x="5646240" y="2331360"/>
            <a:ext cx="1289160" cy="544680"/>
          </a:xfrm>
          <a:prstGeom prst="straightConnector1">
            <a:avLst/>
          </a:prstGeom>
          <a:ln w="9360">
            <a:solidFill>
              <a:schemeClr val="dk2"/>
            </a:solidFill>
            <a:round/>
            <a:tailEnd len="med" type="triangle" w="med"/>
          </a:ln>
        </p:spPr>
      </p:cxnSp>
      <p:cxnSp>
        <p:nvCxnSpPr>
          <p:cNvPr id="195" name="Google Shape;306;p6"/>
          <p:cNvCxnSpPr>
            <a:stCxn id="175" idx="2"/>
            <a:endCxn id="182" idx="0"/>
          </p:cNvCxnSpPr>
          <p:nvPr/>
        </p:nvCxnSpPr>
        <p:spPr>
          <a:xfrm flipH="1">
            <a:off x="6949440" y="2331360"/>
            <a:ext cx="891720" cy="544680"/>
          </a:xfrm>
          <a:prstGeom prst="straightConnector1">
            <a:avLst/>
          </a:prstGeom>
          <a:ln w="9360">
            <a:solidFill>
              <a:schemeClr val="dk2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312;p7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6. ERP Write Path &amp; Credit Note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313;p7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Workflow decides; a supported integration mechanism performs writes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314;p7"/>
          <p:cNvSpPr/>
          <p:nvPr/>
        </p:nvSpPr>
        <p:spPr>
          <a:xfrm>
            <a:off x="548640" y="1371600"/>
            <a:ext cx="2148120" cy="105084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315;p7"/>
          <p:cNvSpPr/>
          <p:nvPr/>
        </p:nvSpPr>
        <p:spPr>
          <a:xfrm>
            <a:off x="713160" y="1499760"/>
            <a:ext cx="1819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APPROVED REPORT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316;p7"/>
          <p:cNvSpPr/>
          <p:nvPr/>
        </p:nvSpPr>
        <p:spPr>
          <a:xfrm>
            <a:off x="713160" y="1901880"/>
            <a:ext cx="1819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Business state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1" name="Google Shape;317;p7"/>
          <p:cNvCxnSpPr/>
          <p:nvPr/>
        </p:nvCxnSpPr>
        <p:spPr>
          <a:xfrm>
            <a:off x="2697480" y="190188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202" name="Google Shape;318;p7"/>
          <p:cNvSpPr/>
          <p:nvPr/>
        </p:nvSpPr>
        <p:spPr>
          <a:xfrm>
            <a:off x="3063240" y="1371600"/>
            <a:ext cx="2239560" cy="105084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319;p7"/>
          <p:cNvSpPr/>
          <p:nvPr/>
        </p:nvSpPr>
        <p:spPr>
          <a:xfrm>
            <a:off x="3227760" y="149976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INTEGRATION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320;p7"/>
          <p:cNvSpPr/>
          <p:nvPr/>
        </p:nvSpPr>
        <p:spPr>
          <a:xfrm>
            <a:off x="3227760" y="1901880"/>
            <a:ext cx="1910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Server flow / job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5" name="Google Shape;321;p7"/>
          <p:cNvCxnSpPr/>
          <p:nvPr/>
        </p:nvCxnSpPr>
        <p:spPr>
          <a:xfrm>
            <a:off x="5303520" y="190188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206" name="Google Shape;322;p7"/>
          <p:cNvSpPr/>
          <p:nvPr/>
        </p:nvSpPr>
        <p:spPr>
          <a:xfrm>
            <a:off x="5669280" y="1371600"/>
            <a:ext cx="2239560" cy="105084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323;p7"/>
          <p:cNvSpPr/>
          <p:nvPr/>
        </p:nvSpPr>
        <p:spPr>
          <a:xfrm>
            <a:off x="5833800" y="1499760"/>
            <a:ext cx="1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ERP WRITE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oogle Shape;324;p7"/>
          <p:cNvSpPr/>
          <p:nvPr/>
        </p:nvSpPr>
        <p:spPr>
          <a:xfrm>
            <a:off x="5833800" y="1901880"/>
            <a:ext cx="19105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Import / supported interface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9" name="Google Shape;325;p7"/>
          <p:cNvCxnSpPr/>
          <p:nvPr/>
        </p:nvCxnSpPr>
        <p:spPr>
          <a:xfrm>
            <a:off x="7909560" y="1901880"/>
            <a:ext cx="366480" cy="720"/>
          </a:xfrm>
          <a:prstGeom prst="straightConnector1">
            <a:avLst/>
          </a:prstGeom>
          <a:ln w="9360">
            <a:solidFill>
              <a:srgbClr val="646e78"/>
            </a:solidFill>
            <a:round/>
          </a:ln>
        </p:spPr>
      </p:cxnSp>
      <p:sp>
        <p:nvSpPr>
          <p:cNvPr id="210" name="Google Shape;326;p7"/>
          <p:cNvSpPr/>
          <p:nvPr/>
        </p:nvSpPr>
        <p:spPr>
          <a:xfrm>
            <a:off x="8275320" y="1371600"/>
            <a:ext cx="2513880" cy="105084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Google Shape;327;p7"/>
          <p:cNvSpPr/>
          <p:nvPr/>
        </p:nvSpPr>
        <p:spPr>
          <a:xfrm>
            <a:off x="8439840" y="1499760"/>
            <a:ext cx="2184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CREDIT NOTE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328;p7"/>
          <p:cNvSpPr/>
          <p:nvPr/>
        </p:nvSpPr>
        <p:spPr>
          <a:xfrm>
            <a:off x="8439840" y="1901880"/>
            <a:ext cx="2184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ERP document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329;p7"/>
          <p:cNvSpPr/>
          <p:nvPr/>
        </p:nvSpPr>
        <p:spPr>
          <a:xfrm>
            <a:off x="731520" y="3063240"/>
            <a:ext cx="5119920" cy="214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330;p7"/>
          <p:cNvSpPr/>
          <p:nvPr/>
        </p:nvSpPr>
        <p:spPr>
          <a:xfrm>
            <a:off x="896040" y="3191400"/>
            <a:ext cx="4790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WHY THIS SEPARATION?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331;p7"/>
          <p:cNvSpPr/>
          <p:nvPr/>
        </p:nvSpPr>
        <p:spPr>
          <a:xfrm>
            <a:off x="896040" y="3593520"/>
            <a:ext cx="47908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Workflow remains focused on routing and decisions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ERP writes are handled by supported mechanisms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Failures can be retried independently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Approved reports are not lost when ERP is unavailable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332;p7"/>
          <p:cNvSpPr/>
          <p:nvPr/>
        </p:nvSpPr>
        <p:spPr>
          <a:xfrm>
            <a:off x="6263640" y="3063240"/>
            <a:ext cx="5119920" cy="214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333;p7"/>
          <p:cNvSpPr/>
          <p:nvPr/>
        </p:nvSpPr>
        <p:spPr>
          <a:xfrm>
            <a:off x="6428160" y="3191400"/>
            <a:ext cx="4790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IDEMPOTENT ERP PROCESSING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334;p7"/>
          <p:cNvSpPr/>
          <p:nvPr/>
        </p:nvSpPr>
        <p:spPr>
          <a:xfrm>
            <a:off x="6428160" y="3593520"/>
            <a:ext cx="4790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Carry report UUID as an external reference where supported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Detect an existing credit-note transaction before creating another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Keep CREDIT_NOTE_PENDING until confirmed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Record ERP document ID after success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335;p7"/>
          <p:cNvSpPr/>
          <p:nvPr/>
        </p:nvSpPr>
        <p:spPr>
          <a:xfrm>
            <a:off x="3611880" y="5623560"/>
            <a:ext cx="498276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36;p7"/>
          <p:cNvSpPr/>
          <p:nvPr/>
        </p:nvSpPr>
        <p:spPr>
          <a:xfrm>
            <a:off x="3611880" y="5667840"/>
            <a:ext cx="49827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Comarch remains the system of record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337;p7"/>
          <p:cNvSpPr/>
          <p:nvPr/>
        </p:nvSpPr>
        <p:spPr>
          <a:xfrm>
            <a:off x="502920" y="6510600"/>
            <a:ext cx="10999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338;p7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344;p8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7. Error Handling, Stability &amp; Operations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345;p8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Every failure is visible, recoverable and traceable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346;p8"/>
          <p:cNvSpPr/>
          <p:nvPr/>
        </p:nvSpPr>
        <p:spPr>
          <a:xfrm>
            <a:off x="502920" y="1417320"/>
            <a:ext cx="3611160" cy="324540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347;p8"/>
          <p:cNvSpPr/>
          <p:nvPr/>
        </p:nvSpPr>
        <p:spPr>
          <a:xfrm>
            <a:off x="667440" y="1545480"/>
            <a:ext cx="328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USER / VALIDATION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348;p8"/>
          <p:cNvSpPr/>
          <p:nvPr/>
        </p:nvSpPr>
        <p:spPr>
          <a:xfrm>
            <a:off x="667440" y="1947600"/>
            <a:ext cx="328212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Examples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Missing product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Invalid quantity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Missing reason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Handling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Immediate feedback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Goal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Fix before submission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349;p8"/>
          <p:cNvSpPr/>
          <p:nvPr/>
        </p:nvSpPr>
        <p:spPr>
          <a:xfrm>
            <a:off x="4297680" y="1417320"/>
            <a:ext cx="3611160" cy="324540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50;p8"/>
          <p:cNvSpPr/>
          <p:nvPr/>
        </p:nvSpPr>
        <p:spPr>
          <a:xfrm>
            <a:off x="4462200" y="1545480"/>
            <a:ext cx="328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be7024"/>
                </a:solidFill>
                <a:latin typeface="Arial"/>
                <a:ea typeface="Arial"/>
              </a:rPr>
              <a:t>BUSINESS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351;p8"/>
          <p:cNvSpPr/>
          <p:nvPr/>
        </p:nvSpPr>
        <p:spPr>
          <a:xfrm>
            <a:off x="4462200" y="1947600"/>
            <a:ext cx="328212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Examples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Invalid ERP reference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Credit note rejected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Rule violation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Handling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Business status + reason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Goal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Actionable resolution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352;p8"/>
          <p:cNvSpPr/>
          <p:nvPr/>
        </p:nvSpPr>
        <p:spPr>
          <a:xfrm>
            <a:off x="8092440" y="1417320"/>
            <a:ext cx="3611160" cy="324540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353;p8"/>
          <p:cNvSpPr/>
          <p:nvPr/>
        </p:nvSpPr>
        <p:spPr>
          <a:xfrm>
            <a:off x="8256960" y="1545480"/>
            <a:ext cx="328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47052"/>
                </a:solidFill>
                <a:latin typeface="Arial"/>
                <a:ea typeface="Arial"/>
              </a:rPr>
              <a:t>TECHNICAL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354;p8"/>
          <p:cNvSpPr/>
          <p:nvPr/>
        </p:nvSpPr>
        <p:spPr>
          <a:xfrm>
            <a:off x="8256960" y="1947600"/>
            <a:ext cx="328212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Examples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Network timeout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ERP unavailable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Integration failure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Handling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Retry → monitor → manual queue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Goal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No silent data loss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355;p8"/>
          <p:cNvSpPr/>
          <p:nvPr/>
        </p:nvSpPr>
        <p:spPr>
          <a:xfrm>
            <a:off x="731520" y="5074920"/>
            <a:ext cx="182808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356;p8"/>
          <p:cNvSpPr/>
          <p:nvPr/>
        </p:nvSpPr>
        <p:spPr>
          <a:xfrm>
            <a:off x="731520" y="5119200"/>
            <a:ext cx="18280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Correlation 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357;p8"/>
          <p:cNvSpPr/>
          <p:nvPr/>
        </p:nvSpPr>
        <p:spPr>
          <a:xfrm>
            <a:off x="2743200" y="5074920"/>
            <a:ext cx="182808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358;p8"/>
          <p:cNvSpPr/>
          <p:nvPr/>
        </p:nvSpPr>
        <p:spPr>
          <a:xfrm>
            <a:off x="2743200" y="5119200"/>
            <a:ext cx="18280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Structured logs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359;p8"/>
          <p:cNvSpPr/>
          <p:nvPr/>
        </p:nvSpPr>
        <p:spPr>
          <a:xfrm>
            <a:off x="4754880" y="5074920"/>
            <a:ext cx="182808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360;p8"/>
          <p:cNvSpPr/>
          <p:nvPr/>
        </p:nvSpPr>
        <p:spPr>
          <a:xfrm>
            <a:off x="4754880" y="5119200"/>
            <a:ext cx="18280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Retry limits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361;p8"/>
          <p:cNvSpPr/>
          <p:nvPr/>
        </p:nvSpPr>
        <p:spPr>
          <a:xfrm>
            <a:off x="6766560" y="5074920"/>
            <a:ext cx="182808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362;p8"/>
          <p:cNvSpPr/>
          <p:nvPr/>
        </p:nvSpPr>
        <p:spPr>
          <a:xfrm>
            <a:off x="6766560" y="5119200"/>
            <a:ext cx="18280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Alerts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363;p8"/>
          <p:cNvSpPr/>
          <p:nvPr/>
        </p:nvSpPr>
        <p:spPr>
          <a:xfrm>
            <a:off x="8778240" y="5074920"/>
            <a:ext cx="1828080" cy="383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364;p8"/>
          <p:cNvSpPr/>
          <p:nvPr/>
        </p:nvSpPr>
        <p:spPr>
          <a:xfrm>
            <a:off x="8778240" y="5119200"/>
            <a:ext cx="18280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Audit trail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365;p8"/>
          <p:cNvSpPr/>
          <p:nvPr/>
        </p:nvSpPr>
        <p:spPr>
          <a:xfrm>
            <a:off x="1051560" y="5715000"/>
            <a:ext cx="100576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82639"/>
                </a:solidFill>
                <a:latin typeface="Arial"/>
                <a:ea typeface="Arial"/>
              </a:rPr>
              <a:t>Monitor: stuck sync • overdue approvals • failed ERP writes • repeated business errors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366;p8"/>
          <p:cNvSpPr/>
          <p:nvPr/>
        </p:nvSpPr>
        <p:spPr>
          <a:xfrm>
            <a:off x="502920" y="6510600"/>
            <a:ext cx="112006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367;p8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373;p9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8. Store Status &amp; End-to-End State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374;p9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A simple business state hides the technical plumbing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375;p9"/>
          <p:cNvSpPr/>
          <p:nvPr/>
        </p:nvSpPr>
        <p:spPr>
          <a:xfrm>
            <a:off x="32004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e8ebe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376;p9"/>
          <p:cNvSpPr/>
          <p:nvPr/>
        </p:nvSpPr>
        <p:spPr>
          <a:xfrm>
            <a:off x="365760" y="1841040"/>
            <a:ext cx="12063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6e78"/>
                </a:solidFill>
                <a:latin typeface="Arial"/>
                <a:ea typeface="Arial"/>
              </a:rPr>
              <a:t>DRAFT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1" name="Google Shape;377;p9"/>
          <p:cNvCxnSpPr/>
          <p:nvPr/>
        </p:nvCxnSpPr>
        <p:spPr>
          <a:xfrm>
            <a:off x="161820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52" name="Google Shape;378;p9"/>
          <p:cNvSpPr/>
          <p:nvPr/>
        </p:nvSpPr>
        <p:spPr>
          <a:xfrm>
            <a:off x="178308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379;p9"/>
          <p:cNvSpPr/>
          <p:nvPr/>
        </p:nvSpPr>
        <p:spPr>
          <a:xfrm>
            <a:off x="1828800" y="1757160"/>
            <a:ext cx="12063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d5f91"/>
                </a:solidFill>
                <a:latin typeface="Arial"/>
                <a:ea typeface="Arial"/>
              </a:rPr>
              <a:t>PENDING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d5f91"/>
                </a:solidFill>
                <a:latin typeface="Arial"/>
                <a:ea typeface="Arial"/>
              </a:rPr>
              <a:t>SYNC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4" name="Google Shape;380;p9"/>
          <p:cNvCxnSpPr/>
          <p:nvPr/>
        </p:nvCxnSpPr>
        <p:spPr>
          <a:xfrm>
            <a:off x="308124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55" name="Google Shape;381;p9"/>
          <p:cNvSpPr/>
          <p:nvPr/>
        </p:nvSpPr>
        <p:spPr>
          <a:xfrm>
            <a:off x="324612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382;p9"/>
          <p:cNvSpPr/>
          <p:nvPr/>
        </p:nvSpPr>
        <p:spPr>
          <a:xfrm>
            <a:off x="3291840" y="1841040"/>
            <a:ext cx="12063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47052"/>
                </a:solidFill>
                <a:latin typeface="Arial"/>
                <a:ea typeface="Arial"/>
              </a:rPr>
              <a:t>SUBMITTED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7" name="Google Shape;383;p9"/>
          <p:cNvCxnSpPr/>
          <p:nvPr/>
        </p:nvCxnSpPr>
        <p:spPr>
          <a:xfrm>
            <a:off x="454428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58" name="Google Shape;384;p9"/>
          <p:cNvSpPr/>
          <p:nvPr/>
        </p:nvSpPr>
        <p:spPr>
          <a:xfrm>
            <a:off x="470916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385;p9"/>
          <p:cNvSpPr/>
          <p:nvPr/>
        </p:nvSpPr>
        <p:spPr>
          <a:xfrm>
            <a:off x="4754880" y="1757160"/>
            <a:ext cx="12063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e7024"/>
                </a:solidFill>
                <a:latin typeface="Arial"/>
                <a:ea typeface="Arial"/>
              </a:rPr>
              <a:t>REGIONAL APPROVAL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0" name="Google Shape;386;p9"/>
          <p:cNvCxnSpPr/>
          <p:nvPr/>
        </p:nvCxnSpPr>
        <p:spPr>
          <a:xfrm>
            <a:off x="600732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61" name="Google Shape;387;p9"/>
          <p:cNvSpPr/>
          <p:nvPr/>
        </p:nvSpPr>
        <p:spPr>
          <a:xfrm>
            <a:off x="617220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faebd8"/>
          </a:solidFill>
          <a:ln w="9360">
            <a:solidFill>
              <a:srgbClr val="faebd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388;p9"/>
          <p:cNvSpPr/>
          <p:nvPr/>
        </p:nvSpPr>
        <p:spPr>
          <a:xfrm>
            <a:off x="6217920" y="1757160"/>
            <a:ext cx="12063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e7024"/>
                </a:solidFill>
                <a:latin typeface="Arial"/>
                <a:ea typeface="Arial"/>
              </a:rPr>
              <a:t>QUALITY APPROVAL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3" name="Google Shape;389;p9"/>
          <p:cNvCxnSpPr/>
          <p:nvPr/>
        </p:nvCxnSpPr>
        <p:spPr>
          <a:xfrm>
            <a:off x="747036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64" name="Google Shape;390;p9"/>
          <p:cNvSpPr/>
          <p:nvPr/>
        </p:nvSpPr>
        <p:spPr>
          <a:xfrm>
            <a:off x="763524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391;p9"/>
          <p:cNvSpPr/>
          <p:nvPr/>
        </p:nvSpPr>
        <p:spPr>
          <a:xfrm>
            <a:off x="7680960" y="1841040"/>
            <a:ext cx="12063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47052"/>
                </a:solidFill>
                <a:latin typeface="Arial"/>
                <a:ea typeface="Arial"/>
              </a:rPr>
              <a:t>APPROVED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6" name="Google Shape;392;p9"/>
          <p:cNvCxnSpPr/>
          <p:nvPr/>
        </p:nvCxnSpPr>
        <p:spPr>
          <a:xfrm>
            <a:off x="893340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67" name="Google Shape;393;p9"/>
          <p:cNvSpPr/>
          <p:nvPr/>
        </p:nvSpPr>
        <p:spPr>
          <a:xfrm>
            <a:off x="909828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394;p9"/>
          <p:cNvSpPr/>
          <p:nvPr/>
        </p:nvSpPr>
        <p:spPr>
          <a:xfrm>
            <a:off x="9144000" y="1757160"/>
            <a:ext cx="12063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d5f91"/>
                </a:solidFill>
                <a:latin typeface="Arial"/>
                <a:ea typeface="Arial"/>
              </a:rPr>
              <a:t>CREDIT NOTE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d5f91"/>
                </a:solidFill>
                <a:latin typeface="Arial"/>
                <a:ea typeface="Arial"/>
              </a:rPr>
              <a:t>PROCESSING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9" name="Google Shape;395;p9"/>
          <p:cNvCxnSpPr/>
          <p:nvPr/>
        </p:nvCxnSpPr>
        <p:spPr>
          <a:xfrm>
            <a:off x="10396440" y="1993320"/>
            <a:ext cx="147240" cy="720"/>
          </a:xfrm>
          <a:prstGeom prst="straightConnector1">
            <a:avLst/>
          </a:prstGeom>
          <a:ln w="19080">
            <a:solidFill>
              <a:srgbClr val="646e78"/>
            </a:solidFill>
            <a:round/>
          </a:ln>
        </p:spPr>
      </p:cxnSp>
      <p:sp>
        <p:nvSpPr>
          <p:cNvPr id="270" name="Google Shape;396;p9"/>
          <p:cNvSpPr/>
          <p:nvPr/>
        </p:nvSpPr>
        <p:spPr>
          <a:xfrm>
            <a:off x="10561320" y="1508760"/>
            <a:ext cx="1297800" cy="959400"/>
          </a:xfrm>
          <a:prstGeom prst="roundRect">
            <a:avLst>
              <a:gd name="adj" fmla="val 16667"/>
            </a:avLst>
          </a:prstGeom>
          <a:solidFill>
            <a:srgbClr val="e2f1e8"/>
          </a:solidFill>
          <a:ln w="9360">
            <a:solidFill>
              <a:srgbClr val="e2f1e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Google Shape;397;p9"/>
          <p:cNvSpPr/>
          <p:nvPr/>
        </p:nvSpPr>
        <p:spPr>
          <a:xfrm>
            <a:off x="10607040" y="1841040"/>
            <a:ext cx="12063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47052"/>
                </a:solidFill>
                <a:latin typeface="Arial"/>
                <a:ea typeface="Arial"/>
              </a:rPr>
              <a:t>COMPLETED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Google Shape;398;p9"/>
          <p:cNvSpPr/>
          <p:nvPr/>
        </p:nvSpPr>
        <p:spPr>
          <a:xfrm>
            <a:off x="1828800" y="3337560"/>
            <a:ext cx="2376720" cy="1233720"/>
          </a:xfrm>
          <a:prstGeom prst="roundRect">
            <a:avLst>
              <a:gd name="adj" fmla="val 16667"/>
            </a:avLst>
          </a:prstGeom>
          <a:solidFill>
            <a:srgbClr val="f8e2e2"/>
          </a:solidFill>
          <a:ln w="9360">
            <a:solidFill>
              <a:srgbClr val="f8e2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399;p9"/>
          <p:cNvSpPr/>
          <p:nvPr/>
        </p:nvSpPr>
        <p:spPr>
          <a:xfrm>
            <a:off x="1993320" y="3465720"/>
            <a:ext cx="204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a4141"/>
                </a:solidFill>
                <a:latin typeface="Arial"/>
                <a:ea typeface="Arial"/>
              </a:rPr>
              <a:t>REJECTED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400;p9"/>
          <p:cNvSpPr/>
          <p:nvPr/>
        </p:nvSpPr>
        <p:spPr>
          <a:xfrm>
            <a:off x="1993320" y="3867840"/>
            <a:ext cx="20476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Reason returned to store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401;p9"/>
          <p:cNvSpPr/>
          <p:nvPr/>
        </p:nvSpPr>
        <p:spPr>
          <a:xfrm>
            <a:off x="4892040" y="3337560"/>
            <a:ext cx="2376720" cy="1233720"/>
          </a:xfrm>
          <a:prstGeom prst="roundRect">
            <a:avLst>
              <a:gd name="adj" fmla="val 16667"/>
            </a:avLst>
          </a:prstGeom>
          <a:solidFill>
            <a:srgbClr val="f8e2e2"/>
          </a:solidFill>
          <a:ln w="9360">
            <a:solidFill>
              <a:srgbClr val="f8e2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402;p9"/>
          <p:cNvSpPr/>
          <p:nvPr/>
        </p:nvSpPr>
        <p:spPr>
          <a:xfrm>
            <a:off x="5056560" y="3465720"/>
            <a:ext cx="204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a4141"/>
                </a:solidFill>
                <a:latin typeface="Arial"/>
                <a:ea typeface="Arial"/>
              </a:rPr>
              <a:t>SYNC ERROR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403;p9"/>
          <p:cNvSpPr/>
          <p:nvPr/>
        </p:nvSpPr>
        <p:spPr>
          <a:xfrm>
            <a:off x="5056560" y="3867840"/>
            <a:ext cx="20476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Visible + retryable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404;p9"/>
          <p:cNvSpPr/>
          <p:nvPr/>
        </p:nvSpPr>
        <p:spPr>
          <a:xfrm>
            <a:off x="7955280" y="3337560"/>
            <a:ext cx="2376720" cy="1233720"/>
          </a:xfrm>
          <a:prstGeom prst="roundRect">
            <a:avLst>
              <a:gd name="adj" fmla="val 16667"/>
            </a:avLst>
          </a:prstGeom>
          <a:solidFill>
            <a:srgbClr val="f8e2e2"/>
          </a:solidFill>
          <a:ln w="9360">
            <a:solidFill>
              <a:srgbClr val="f8e2e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405;p9"/>
          <p:cNvSpPr/>
          <p:nvPr/>
        </p:nvSpPr>
        <p:spPr>
          <a:xfrm>
            <a:off x="8119800" y="3465720"/>
            <a:ext cx="2047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a4141"/>
                </a:solidFill>
                <a:latin typeface="Arial"/>
                <a:ea typeface="Arial"/>
              </a:rPr>
              <a:t>ERP ERROR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406;p9"/>
          <p:cNvSpPr/>
          <p:nvPr/>
        </p:nvSpPr>
        <p:spPr>
          <a:xfrm>
            <a:off x="8119800" y="3867840"/>
            <a:ext cx="20476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Retry / manual resolution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oogle Shape;407;p9"/>
          <p:cNvSpPr/>
          <p:nvPr/>
        </p:nvSpPr>
        <p:spPr>
          <a:xfrm>
            <a:off x="1828800" y="4892040"/>
            <a:ext cx="8594640" cy="8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408;p9"/>
          <p:cNvSpPr/>
          <p:nvPr/>
        </p:nvSpPr>
        <p:spPr>
          <a:xfrm>
            <a:off x="1993320" y="5020200"/>
            <a:ext cx="8265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UX PRINCIPLE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Google Shape;409;p9"/>
          <p:cNvSpPr/>
          <p:nvPr/>
        </p:nvSpPr>
        <p:spPr>
          <a:xfrm>
            <a:off x="1993320" y="5422320"/>
            <a:ext cx="82656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The store sees business status — not technical implementation details.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410;p9"/>
          <p:cNvSpPr/>
          <p:nvPr/>
        </p:nvSpPr>
        <p:spPr>
          <a:xfrm>
            <a:off x="502920" y="6510600"/>
            <a:ext cx="113562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411;p9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417;p10"/>
          <p:cNvSpPr/>
          <p:nvPr/>
        </p:nvSpPr>
        <p:spPr>
          <a:xfrm>
            <a:off x="502920" y="274320"/>
            <a:ext cx="11154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82639"/>
                </a:solidFill>
                <a:latin typeface="Arial"/>
                <a:ea typeface="Arial"/>
              </a:rPr>
              <a:t>9. Assumptions, Open Questions &amp; Key Decisions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418;p10"/>
          <p:cNvSpPr/>
          <p:nvPr/>
        </p:nvSpPr>
        <p:spPr>
          <a:xfrm>
            <a:off x="530280" y="804600"/>
            <a:ext cx="1097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6e78"/>
                </a:solidFill>
                <a:latin typeface="Arial"/>
                <a:ea typeface="Arial"/>
              </a:rPr>
              <a:t>Make uncertainty explicit — then design for 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419;p10"/>
          <p:cNvSpPr/>
          <p:nvPr/>
        </p:nvSpPr>
        <p:spPr>
          <a:xfrm>
            <a:off x="502920" y="1325880"/>
            <a:ext cx="3611160" cy="434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420;p10"/>
          <p:cNvSpPr/>
          <p:nvPr/>
        </p:nvSpPr>
        <p:spPr>
          <a:xfrm>
            <a:off x="667440" y="1454040"/>
            <a:ext cx="328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ASSUMPTIONS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421;p10"/>
          <p:cNvSpPr/>
          <p:nvPr/>
        </p:nvSpPr>
        <p:spPr>
          <a:xfrm>
            <a:off x="667440" y="1856160"/>
            <a:ext cx="328212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Stores are internal company units, not franchisees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Product/order data is available in Comarch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Reports are append-only after submission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Below CHF 200 requires no approval*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Batch / quality information may be relevant for chocolate products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422;p10"/>
          <p:cNvSpPr/>
          <p:nvPr/>
        </p:nvSpPr>
        <p:spPr>
          <a:xfrm>
            <a:off x="4297680" y="1325880"/>
            <a:ext cx="3611160" cy="434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be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423;p10"/>
          <p:cNvSpPr/>
          <p:nvPr/>
        </p:nvSpPr>
        <p:spPr>
          <a:xfrm>
            <a:off x="4462200" y="1454040"/>
            <a:ext cx="328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82639"/>
                </a:solidFill>
                <a:latin typeface="Arial"/>
                <a:ea typeface="Arial"/>
              </a:rPr>
              <a:t>OPEN QUESTIONS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424;p10"/>
          <p:cNvSpPr/>
          <p:nvPr/>
        </p:nvSpPr>
        <p:spPr>
          <a:xfrm>
            <a:off x="4462200" y="1856160"/>
            <a:ext cx="328212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What ERP value determines the thresholds?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Must a report reference an order/delivery?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What is the escalation hierarchy?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Can reports be edited after submission?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Does a quality defect create a separate QA record?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What happens when master data changes offline?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425;p10"/>
          <p:cNvSpPr/>
          <p:nvPr/>
        </p:nvSpPr>
        <p:spPr>
          <a:xfrm>
            <a:off x="8092440" y="1325880"/>
            <a:ext cx="3611160" cy="4342680"/>
          </a:xfrm>
          <a:prstGeom prst="roundRect">
            <a:avLst>
              <a:gd name="adj" fmla="val 16667"/>
            </a:avLst>
          </a:prstGeom>
          <a:solidFill>
            <a:srgbClr val="e0ecf7"/>
          </a:solidFill>
          <a:ln w="9360">
            <a:solidFill>
              <a:srgbClr val="e0ecf7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426;p10"/>
          <p:cNvSpPr/>
          <p:nvPr/>
        </p:nvSpPr>
        <p:spPr>
          <a:xfrm>
            <a:off x="8256960" y="1454040"/>
            <a:ext cx="328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5f91"/>
                </a:solidFill>
                <a:latin typeface="Arial"/>
                <a:ea typeface="Arial"/>
              </a:rPr>
              <a:t>KEY DECISIONS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427;p10"/>
          <p:cNvSpPr/>
          <p:nvPr/>
        </p:nvSpPr>
        <p:spPr>
          <a:xfrm>
            <a:off x="8256960" y="1856160"/>
            <a:ext cx="3282120" cy="15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Offline-first mobile capture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Server-side validation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Idempotent synchronization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Role-based BPMN approval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Supported ERP write mechanism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Async photo 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• </a:t>
            </a:r>
            <a:r>
              <a:rPr b="0" lang="en-US" sz="1400" spc="-1" strike="noStrike">
                <a:solidFill>
                  <a:srgbClr val="182639"/>
                </a:solidFill>
                <a:latin typeface="Arial"/>
                <a:ea typeface="Arial"/>
              </a:rPr>
              <a:t>Retry + monitoring + audit trail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428;p10"/>
          <p:cNvSpPr/>
          <p:nvPr/>
        </p:nvSpPr>
        <p:spPr>
          <a:xfrm>
            <a:off x="685800" y="5897880"/>
            <a:ext cx="105148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6e78"/>
                </a:solidFill>
                <a:latin typeface="Arial"/>
                <a:ea typeface="Arial"/>
              </a:rPr>
              <a:t>* Explicitly confirm the business rule before implementation.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429;p10"/>
          <p:cNvSpPr/>
          <p:nvPr/>
        </p:nvSpPr>
        <p:spPr>
          <a:xfrm>
            <a:off x="502920" y="6510600"/>
            <a:ext cx="11288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Digital Damage Reporting • Full Stack Developer / ERP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430;p10"/>
          <p:cNvSpPr/>
          <p:nvPr/>
        </p:nvSpPr>
        <p:spPr>
          <a:xfrm>
            <a:off x="11201400" y="6492240"/>
            <a:ext cx="45648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6e78"/>
                </a:solidFill>
                <a:latin typeface="Arial"/>
                <a:ea typeface="Arial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en-US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